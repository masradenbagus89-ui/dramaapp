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PEMBUKA. Perkenalkan diri lalu sampaikan kalimat ini:</a:t>
            </a:r>
          </a:p>
          <a:p>
            <a:r>
              <a:t>"DramaApp (brand: DramaKu) adalah platform streaming drama China pendek yang</a:t>
            </a:r>
          </a:p>
          <a:p>
            <a:r>
              <a:t>saya bangun dari nol — sudah ONLINE dan bisa diakses siapa saja di</a:t>
            </a:r>
          </a:p>
          <a:p>
            <a:r>
              <a:t>dramaapp.vercel.app. Saya akan jelaskan dari dua sisi: sisi teknis aplikasinya,</a:t>
            </a:r>
          </a:p>
          <a:p>
            <a:r>
              <a:t>dan sistem yang saya pakai selama membangunnya."</a:t>
            </a:r>
          </a:p>
          <a:p>
            <a:r>
              <a:t>TIPS: kalau memungkinkan, buka dramaapp.vercel.app langsung sebagai demo singkat</a:t>
            </a:r>
          </a:p>
          <a:p>
            <a:r>
              <a:t>sebelum lanjut — bukti app benar-benar jalan paling meyakinkan.</a:t>
            </a:r>
          </a:p>
          <a:p>
            <a:r>
              <a:t>Teknologi inti: Next.js 16, React 19, TypeScript, Tailwind 4. Biaya hosting Rp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"Presentasi dibagi 4 bagian: (1) gambaran produk &amp; fitur, (2) tech stack</a:t>
            </a:r>
          </a:p>
          <a:p>
            <a:r>
              <a:t>dan arsitektur, (3) routing, API, dan data, (4) admin, video, deployment — plus</a:t>
            </a:r>
          </a:p>
          <a:p>
            <a:r>
              <a:t>arsitektur hybrid, perjalanan pembuatan, dan tanya-jawab di akhir."</a:t>
            </a:r>
          </a:p>
          <a:p>
            <a:r>
              <a:t>Tidak perlu dibaca satu-satu; cukup sebut empat bagian besar lalu lanjut.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 ITU DRAMAAPP. Inti: aplikasi web streaming drama China pendek, GRATIS,</a:t>
            </a:r>
          </a:p>
          <a:p>
            <a:r>
              <a:t>dirancang mobile-first (utamanya untuk HP). Konsepnya gabungan Netflix (katalog</a:t>
            </a:r>
          </a:p>
          <a:p>
            <a:r>
              <a:t>rapi per kategori + halaman detail) dan TikTok (feed Shorts vertikal).</a:t>
            </a:r>
          </a:p>
          <a:p>
            <a:r>
              <a:t>Kenapa dibuat: tren short drama sedang naik, butuh platform ringan &amp; cepat,</a:t>
            </a:r>
          </a:p>
          <a:p>
            <a:r>
              <a:t>tanpa perlu instal aplikasi — cukup buka browser.</a:t>
            </a:r>
          </a:p>
          <a:p>
            <a:r>
              <a:t>Angka untuk diingat: 33 judul drama, 7 kategori genre, ~25 poster, 11 halaman.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FITUR UTAMA. Enam fitur inti dari sisi pengguna:</a:t>
            </a:r>
          </a:p>
          <a:p>
            <a:r>
              <a:t>1. Katalog &amp; Discover — jelajah, filter per kategori.</a:t>
            </a:r>
          </a:p>
          <a:p>
            <a:r>
              <a:t>2. Streaming per episode — player khusus tiap episode, navigasi prev/next.</a:t>
            </a:r>
          </a:p>
          <a:p>
            <a:r>
              <a:t>3. Feed Shorts — scroll vertikal ala TikTok.</a:t>
            </a:r>
          </a:p>
          <a:p>
            <a:r>
              <a:t>4. Akun &amp; profil — login/daftar, role admin &amp; viewer, avatar warna.</a:t>
            </a:r>
          </a:p>
          <a:p>
            <a:r>
              <a:t>5. Interaksi sosial — like, komentar, simpan ke My List.</a:t>
            </a:r>
          </a:p>
          <a:p>
            <a:r>
              <a:t>6. Panel admin — kelola judul, episode, poster, video.</a:t>
            </a:r>
          </a:p>
          <a:p>
            <a:r>
              <a:t>Detail menarik: VideoPlayer punya fallback otomatis — kalau video asli belum</a:t>
            </a:r>
          </a:p>
          <a:p>
            <a:r>
              <a:t>ada, tampil video sample + label, jadi app tetap jalan.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STACK. Jelaskan per kelompok:</a:t>
            </a:r>
          </a:p>
          <a:p>
            <a:r>
              <a:t>- FRONTEND: Next.js 16 (framework React, App Router), React 19, TypeScript 5</a:t>
            </a:r>
          </a:p>
          <a:p>
            <a:r>
              <a:t>  (tipe statis = lebih aman dari error).</a:t>
            </a:r>
          </a:p>
          <a:p>
            <a:r>
              <a:t>- STYLING: Tailwind CSS 4 (desain cepat &amp; responsive), next/font, mobile-first.</a:t>
            </a:r>
          </a:p>
          <a:p>
            <a:r>
              <a:t>- BUILD/RUNTIME: Turbopack (bundler super cepat), Node.js 24, Route Handlers</a:t>
            </a:r>
          </a:p>
          <a:p>
            <a:r>
              <a:t>  (API bawaan Next.js — backend &amp; frontend satu kerangka).</a:t>
            </a:r>
          </a:p>
          <a:p>
            <a:r>
              <a:t>- DELIVERY: Vercel (hosting + deploy otomatis dari GitHub), GitHub (repo publik),</a:t>
            </a:r>
          </a:p>
          <a:p>
            <a:r>
              <a:t>  Cloudflare R2 untuk penyimpanan video (rencana).</a:t>
            </a:r>
          </a:p>
          <a:p>
            <a:r>
              <a:t>Pesan kunci: ini FULL-STACK dalam satu codebase, teknologinya modern &amp; standar</a:t>
            </a:r>
          </a:p>
          <a:p>
            <a:r>
              <a:t>industri.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ARSITEKTUR APLIKASI. Satu codebase Next.js berisi frontend + backend.</a:t>
            </a:r>
          </a:p>
          <a:p>
            <a:r>
              <a:t>- Server Components: halaman dirender di server (cepat, ringan di HP).</a:t>
            </a:r>
          </a:p>
          <a:p>
            <a:r>
              <a:t>- Client Components ("use client"): bagian interaktif — player video, tombol like,</a:t>
            </a:r>
          </a:p>
          <a:p>
            <a:r>
              <a:t>  komentar.</a:t>
            </a:r>
          </a:p>
          <a:p>
            <a:r>
              <a:t>- Route Handlers (app/api/*): endpoint backend untuk baca &amp; simpan data.</a:t>
            </a:r>
          </a:p>
          <a:p>
            <a:r>
              <a:t>- Penyimpanan berbasis file: data sebagai JSON, dibaca/tulis via Node fs — TANPA</a:t>
            </a:r>
          </a:p>
          <a:p>
            <a:r>
              <a:t>  database.</a:t>
            </a:r>
          </a:p>
          <a:p>
            <a:r>
              <a:t>- State di klien: status login, like, My List disimpan di localStorage browser.</a:t>
            </a:r>
          </a:p>
          <a:p>
            <a:r>
              <a:t>Diagram kanan menunjukkan alur lapisan: Klien → Rendering → API →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 HALAMAN &amp; ROUTING. Next.js App Router: nama folder = nama URL.</a:t>
            </a:r>
          </a:p>
          <a:p>
            <a:r>
              <a:t>Ada 11 rute. Untuk viewer: /, /login, /daftar, /beranda, /discover, /shorts,</a:t>
            </a:r>
          </a:p>
          <a:p>
            <a:r>
              <a:t>/drama/[id], /watch/[id]/[ep], /my-list, /profile. Untuk admin: /admin.</a:t>
            </a:r>
          </a:p>
          <a:p>
            <a:r>
              <a:t>Poin penting: [id] dan [ep] = segmen DINAMIS — satu file melayani banyak URL</a:t>
            </a:r>
          </a:p>
          <a:p>
            <a:r>
              <a:t>(mis. semua drama pakai satu file /drama/[id]/page.tsx).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&amp; BACKEND. Endpoint ada di app/api/* — sebagian publik, sebagian admin.</a:t>
            </a:r>
          </a:p>
          <a:p>
            <a:r>
              <a:t>PUBLIK: GET /api/dramas (daftar drama), /api/comments (komentar),</a:t>
            </a:r>
          </a:p>
          <a:p>
            <a:r>
              <a:t>/api/likes (like), /api/admins (daftar email admin).</a:t>
            </a:r>
          </a:p>
          <a:p>
            <a:r>
              <a:t>ADMIN (terproteksi): /api/admin/drama (CRUD drama), /api/admin/scan (pindai</a:t>
            </a:r>
          </a:p>
          <a:p>
            <a:r>
              <a:t>video), /api/admin/upload (poster/aset), /api/admin/hardlink (tautkan video).</a:t>
            </a:r>
          </a:p>
          <a:p>
            <a:r>
              <a:t>KEAMANAN: tiap request admin membawa header x-admin-email yang dicocokkan ke</a:t>
            </a:r>
          </a:p>
          <a:p>
            <a:r>
              <a:t>admins.json; kalau tak cocok → ditolak 401. Validasi di SERVER, bukan tampilan.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DATA. Tanpa database — semua data sebagai berkas JSON di folder data/:</a:t>
            </a:r>
          </a:p>
          <a:p>
            <a:r>
              <a:t>dramas.json (33 drama: judul, kategori, episode, sinopsis), comments.json</a:t>
            </a:r>
          </a:p>
          <a:p>
            <a:r>
              <a:t>(komentar per drama), interactions.json (like/interaksi), admins.json (email</a:t>
            </a:r>
          </a:p>
          <a:p>
            <a:r>
              <a:t>admin). Tipe Drama didefinisikan di lib/types.ts; field ber-"?" = opsional.</a:t>
            </a:r>
          </a:p>
          <a:p>
            <a:r>
              <a:t>ID drama dibuat OTOMATIS dari judul (slugify) saat ditambahkan.</a:t>
            </a:r>
          </a:p>
          <a:p>
            <a:r>
              <a:t>7 kategori: Romance, Tycoon, Harem, Time Travel, Action, Comedy, Fantasy.</a:t>
            </a:r>
          </a:p>
          <a:p>
            <a:r>
              <a:t>Kalau ditanya kenapa tanpa DB → lihat slide Tantangan: cukup untuk skala awal,</a:t>
            </a:r>
          </a:p>
          <a:p>
            <a:r>
              <a:t>mudah di-upgrade ke database nanti.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ADMIN. Halaman /admin = kelola konten TANPA menyentuh kode.</a:t>
            </a:r>
          </a:p>
          <a:p>
            <a:r>
              <a:t>Empat fungsi: Kelola drama (CRUD), Pindai video (deteksi file tersedia tiap</a:t>
            </a:r>
          </a:p>
          <a:p>
            <a:r>
              <a:t>drama), Unggah aset (poster/gambar), Tautkan video (hardlink file besar agar</a:t>
            </a:r>
          </a:p>
          <a:p>
            <a:r>
              <a:t>siap diputar). Bawah: pengingat keamanan — header x-admin-email dicocokkan ke</a:t>
            </a:r>
          </a:p>
          <a:p>
            <a:r>
              <a:t>admins.json, kalau gagal 401.</a:t>
            </a:r>
          </a:p>
          <a:p>
            <a:r>
              <a:t>Cerita evolusi (bisa diceritakan di sini): dulu tambah drama = edit file JSON +</a:t>
            </a:r>
          </a:p>
          <a:p>
            <a:r>
              <a:t>copy video manual; sekarang lewat form jadi praktis. Detail "3 klik" ada di</a:t>
            </a:r>
          </a:p>
          <a:p>
            <a:r>
              <a:t>slide Perjalanan Pembuatan.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STREAMING. Cara kerja player:</a:t>
            </a:r>
          </a:p>
          <a:p>
            <a:r>
              <a:t>- Komponen VideoPlayer pakai elemen HTML5 &lt;video&gt; bawaan browser.</a:t>
            </a:r>
          </a:p>
          <a:p>
            <a:r>
              <a:t>- Sumber video dirakit dinamis: {BASE}/{id-drama}/{episode}.mp4.</a:t>
            </a:r>
          </a:p>
          <a:p>
            <a:r>
              <a:t>- Fallback otomatis: kalau video gagal dimuat, beralih ke /sample.mp4 + label</a:t>
            </a:r>
          </a:p>
          <a:p>
            <a:r>
              <a:t>  "Video sample — file asli belum diupload". App tetap jalan.</a:t>
            </a:r>
          </a:p>
          <a:p>
            <a:r>
              <a:t>- Navigasi episode prev/next di halaman watch.</a:t>
            </a:r>
          </a:p>
          <a:p>
            <a:r>
              <a:t>Env var NEXT_PUBLIC_VIDEO_BASE_URL menunjuk lokasi video. PENTING: file video</a:t>
            </a:r>
          </a:p>
          <a:p>
            <a:r>
              <a:t>TIDAK ada di repo Git (batas GitHub 100 MB/file) — slide berikutnya menjelaskan</a:t>
            </a:r>
          </a:p>
          <a:p>
            <a:r>
              <a:t>SISTEM penyimpanan video yang sebenarnya dipakai.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ARSITEKTUR HYBRID — INI BAGIAN PALING MENARIK, TONJOLKAN.</a:t>
            </a:r>
          </a:p>
          <a:p>
            <a:r>
              <a:t>Alur: Pengunjung → buka app. App (halaman, katalog, API) jalan di Vercel. Untuk</a:t>
            </a:r>
          </a:p>
          <a:p>
            <a:r>
              <a:t>VIDEO, app mengarah ke PC backup yang menyimpan file asli &amp; menyalurkannya lewat</a:t>
            </a:r>
          </a:p>
          <a:p>
            <a:r>
              <a:t>Caddy + tunnel.</a:t>
            </a:r>
          </a:p>
          <a:p>
            <a:r>
              <a:t>KENAPA begini? File video besar, GitHub batasi 100 MB/file dan hosting gratis tak</a:t>
            </a:r>
          </a:p>
          <a:p>
            <a:r>
              <a:t>muat. Solusi: pisahkan — app ringan di Vercel (gratis), video di PC sendiri.</a:t>
            </a:r>
          </a:p>
          <a:p>
            <a:r>
              <a:t>Hasilnya biaya hosting Rp 0.</a:t>
            </a:r>
          </a:p>
          <a:p>
            <a:r>
              <a:t>Komponen di folder pc-backup-agent/: Caddyfile (server video), hardlink-agent.js</a:t>
            </a:r>
          </a:p>
          <a:p>
            <a:r>
              <a:t>(siapkan video otomatis saat admin tambah drama), start-dramaapp.ps1 (1 perintah</a:t>
            </a:r>
          </a:p>
          <a:p>
            <a:r>
              <a:t>start semua + auto-update Vercel).</a:t>
            </a:r>
          </a:p>
          <a:p>
            <a:r>
              <a:t>Kelemahan jujur yang bisa disebut: URL video sekarang berubah tiap PC restart —</a:t>
            </a:r>
          </a:p>
          <a:p>
            <a:r>
              <a:t>itu yang akan diperbaiki dengan Named Tunnel (lihat slide Perjalanan &amp; Roadmap).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&amp; DEVOPS. Alur rilis otomatis: (1) Kode di GitHub (repo publik</a:t>
            </a:r>
          </a:p>
          <a:p>
            <a:r>
              <a:t>masradenbagus89-ui/dramaapp) -&gt; (2) Vercel auto-deteksi Next.js, build &amp; deploy</a:t>
            </a:r>
          </a:p>
          <a:p>
            <a:r>
              <a:t>otomatis tiap ada perubahan -&gt; (3) Online di URL .vercel.app, siap diakses.</a:t>
            </a:r>
          </a:p>
          <a:p>
            <a:r>
              <a:t>OTOMASI: skrip start-dramaapp.ps1 menjalankan seluruh lingkungan dev + sinkron</a:t>
            </a:r>
          </a:p>
          <a:p>
            <a:r>
              <a:t>otomatis ke Vercel dengan satu perintah.</a:t>
            </a:r>
          </a:p>
          <a:p>
            <a:r>
              <a:t>KONFIGURASI: 5 environment variable di dashboard Vercel (termasuk URL basis video).</a:t>
            </a:r>
          </a:p>
          <a:p>
            <a:r>
              <a:t>Pesan: cukup push ke GitHub -&gt; otomatis online, tanpa langkah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PERJALANAN PEMBUATAN. Ceritakan ini sebagai "SISTEM yang dipakai selama membangun".</a:t>
            </a:r>
          </a:p>
          <a:p>
            <a:r>
              <a:t>8 tahap, 6 SELESAI: (1) Setup project dari GitHub, (2) Online di Vercel,</a:t>
            </a:r>
          </a:p>
          <a:p>
            <a:r>
              <a:t>(3) Video bisa diputar lewat PC backup + tunnel, (4) Admin form otomatis (tak</a:t>
            </a:r>
          </a:p>
          <a:p>
            <a:r>
              <a:t>perlu edit file manual), (5) Auto-hardlink (tambah drama cukup ~3 klik / 2 menit),</a:t>
            </a:r>
          </a:p>
          <a:p>
            <a:r>
              <a:t>(6) Script otomatis (1 command start semua + auto-update Vercel).</a:t>
            </a:r>
          </a:p>
          <a:p>
            <a:r>
              <a:t>2 BERIKUTNYA: (7) Named Tunnel — biar URL video stabil selamanya, berhenti</a:t>
            </a:r>
          </a:p>
          <a:p>
            <a:r>
              <a:t>ganti-ganti tiap PC restart; (8) Perbaikan akhir — fix bug judul drama panjang</a:t>
            </a:r>
          </a:p>
          <a:p>
            <a:r>
              <a:t>(slug terpotong) + perkuat keamanan login admin.</a:t>
            </a:r>
          </a:p>
          <a:p>
            <a:r>
              <a:t>Pesan: tunjukkan progres nyata &amp; produktivitas yang makin meningkat tiap tahap.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TANTANGAN &amp; SOLUSI. Cerita problem nyata -&gt; solusi (bikin presentasi hidup):</a:t>
            </a:r>
          </a:p>
          <a:p>
            <a:r>
              <a:t>1. Jaringan server terkunci — firewall blokir port masuk, proxy blokir tunnel</a:t>
            </a:r>
          </a:p>
          <a:p>
            <a:r>
              <a:t>   (ngrok, cloudflared, localtunnel semua gagal). Solusi: deploy ke Vercel,</a:t>
            </a:r>
          </a:p>
          <a:p>
            <a:r>
              <a:t>   diakses lewat URL publik tanpa bergantung jaringan server.</a:t>
            </a:r>
          </a:p>
          <a:p>
            <a:r>
              <a:t>2. Video terlalu besar — lewat batas 100 MB GitHub. Solusi: pisahkan video ke</a:t>
            </a:r>
          </a:p>
          <a:p>
            <a:r>
              <a:t>   penyimpanan eksternal/PC backup; path diatur lewat env var.</a:t>
            </a:r>
          </a:p>
          <a:p>
            <a:r>
              <a:t>3. Tanpa database — belum ada server DB. Solusi: pakai file JSON, sederhana,</a:t>
            </a:r>
          </a:p>
          <a:p>
            <a:r>
              <a:t>   cukup untuk skala awal, mudah di-upgrade ke database nanti.</a:t>
            </a:r>
          </a:p>
          <a:p>
            <a:r>
              <a:t>Pesan: menghadapi kendala teknis nyata dan menyelesaikannya dengan keputusan</a:t>
            </a:r>
          </a:p>
          <a:p>
            <a:r>
              <a:t>arsitektur yang tepat.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PENGEMBANGAN. JANGKA PENDEK: unggah video ke Cloudflare R2 &amp; perbarui</a:t>
            </a:r>
          </a:p>
          <a:p>
            <a:r>
              <a:t>path, uji seluruh halaman setelah deploy, perbaiki bug satu per satu.</a:t>
            </a:r>
          </a:p>
          <a:p>
            <a:r>
              <a:t>JANGKA PANJANG: upgrade dari JSON store ke database, autentikasi lebih kuat</a:t>
            </a:r>
          </a:p>
          <a:p>
            <a:r>
              <a:t>(kini berbasis localStorage), fitur pencarian &amp; rekomendasi, optimasi performa &amp;</a:t>
            </a:r>
          </a:p>
          <a:p>
            <a:r>
              <a:t>infinite scroll Shorts.</a:t>
            </a:r>
          </a:p>
          <a:p>
            <a:r>
              <a:t>Status sekarang: aplikasi fungsional &amp; ter-deploy — fokus berikutnya memutar</a:t>
            </a:r>
          </a:p>
          <a:p>
            <a:r>
              <a:t>video dari CDN dan stabilisasi (Named Tunnel).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ANTISIPASI TANYA-JAWAB. Hafalkan jawaban singkat 4 pertanyaan ini:</a:t>
            </a:r>
          </a:p>
          <a:p>
            <a:r>
              <a:t>1. Kenapa tanpa database? -&gt; JSON cukup untuk skala ini, ringan, gratis; mudah</a:t>
            </a:r>
          </a:p>
          <a:p>
            <a:r>
              <a:t>   migrasi ke DB nanti tanpa ubah tampilan.</a:t>
            </a:r>
          </a:p>
          <a:p>
            <a:r>
              <a:t>2. Berapa biaya? -&gt; Rp 0: Vercel free tier + PC sendiri + tool open-source.</a:t>
            </a:r>
          </a:p>
          <a:p>
            <a:r>
              <a:t>3. Aman? -&gt; Role admin diverifikasi di server tiap endpoint; video terpisah.</a:t>
            </a:r>
          </a:p>
          <a:p>
            <a:r>
              <a:t>4. Bisa di HP? -&gt; Bisa, responsive + bottom-nav mobile, jalan di browser HP apa pun.</a:t>
            </a:r>
          </a:p>
          <a:p>
            <a:r>
              <a:t>Jawab tenang dan singkat. Kalau tak tahu, jujur "itu masuk rencana pengembangan".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PENUTUP. Kalimat penutup:</a:t>
            </a:r>
          </a:p>
          <a:p>
            <a:r>
              <a:t>"Singkatnya, DramaApp adalah aplikasi streaming yang sudah online, dibangun</a:t>
            </a:r>
          </a:p>
          <a:p>
            <a:r>
              <a:t>dengan teknologi modern (Next.js, TypeScript, Vercel), memakai arsitektur hybrid</a:t>
            </a:r>
          </a:p>
          <a:p>
            <a:r>
              <a:t>yang hemat biaya untuk menangani video besar, dan punya sistem admin yang membuat</a:t>
            </a:r>
          </a:p>
          <a:p>
            <a:r>
              <a:t>penambahan konten jadi sangat cepat. Dari 8 tahap rencana, 6 sudah selesai dan</a:t>
            </a:r>
          </a:p>
          <a:p>
            <a:r>
              <a:t>aplikasinya sudah bisa dipakai sekarang."</a:t>
            </a:r>
          </a:p>
          <a:p>
            <a:r>
              <a:t>Lalu buka sesi tanya-jawab &amp; tawarkan demo aplikasi langsung.</a:t>
            </a:r>
          </a:p>
          <a:p>
            <a:r>
              <a:t>Angka penutup: 33 judul, 7 kategori, 6/8 tahap selesai, biaya Rp 0,</a:t>
            </a:r>
          </a:p>
          <a:p>
            <a:r>
              <a:t>URL dramaapp.vercel.app.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94560"/>
            <a:ext cx="6035040" cy="6035040"/>
          </a:xfrm>
          <a:prstGeom prst="ellipse">
            <a:avLst/>
          </a:prstGeom>
          <a:solidFill>
            <a:srgbClr val="231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2377440"/>
            <a:ext cx="4937760" cy="4937760"/>
          </a:xfrm>
          <a:prstGeom prst="ellipse">
            <a:avLst/>
          </a:prstGeom>
          <a:solidFill>
            <a:srgbClr val="33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078992"/>
            <a:ext cx="155448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3F5E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7899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800" b="1" i="0">
                <a:solidFill>
                  <a:srgbClr val="FFFFFF"/>
                </a:solidFill>
                <a:latin typeface="Segoe UI"/>
              </a:rPr>
              <a:t>Drama</a:t>
            </a:r>
            <a:r>
              <a:rPr sz="8800" b="1" i="0">
                <a:solidFill>
                  <a:srgbClr val="F43F5E"/>
                </a:solidFill>
                <a:latin typeface="Segoe UI"/>
              </a:rPr>
              <a:t>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 i="0">
                <a:solidFill>
                  <a:srgbClr val="DDDFE6"/>
                </a:solidFill>
                <a:latin typeface="Segoe UI"/>
              </a:rPr>
              <a:t>Platform Streaming Drama China Pendek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12463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CA3AF"/>
                </a:solidFill>
                <a:latin typeface="Segoe UI"/>
              </a:rPr>
              <a:t>Aplikasi web modern — mobile-first, gratis, ringan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4370832"/>
            <a:ext cx="2743200" cy="64008"/>
          </a:xfrm>
          <a:prstGeom prst="roundRect">
            <a:avLst/>
          </a:prstGeom>
          <a:gradFill rotWithShape="1">
            <a:gsLst>
              <a:gs pos="0">
                <a:srgbClr val="F43F5E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466344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663440"/>
            <a:ext cx="1783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Next.js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46634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4663440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4663440"/>
            <a:ext cx="1874519" cy="402336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4663440"/>
            <a:ext cx="18745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1968" y="466344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663440"/>
            <a:ext cx="1783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Tailwind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43F5E"/>
                </a:solidFill>
                <a:latin typeface="Segoe UI"/>
              </a:rPr>
              <a:t>GAMBARAN TEKNIS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61081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Presentasi  ·  2 Juni 2026  ·  github.com/masradenbagus89-ui/dramaapp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Apa yang akan dibahas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459736" cy="402336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286000"/>
            <a:ext cx="2002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43F5E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154680"/>
            <a:ext cx="1947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Gambaran Produk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" y="3977639"/>
            <a:ext cx="1947672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160520"/>
            <a:ext cx="1947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Segoe UI"/>
              </a:rPr>
              <a:t>Masalah yang dipecahkan, fitur utama bagi pengguna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1920240"/>
            <a:ext cx="2459736" cy="402336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75304" y="192024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2286000"/>
            <a:ext cx="2002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A855F7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3154680"/>
            <a:ext cx="1947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Tech Stack &amp; Arsitektur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31336" y="3977639"/>
            <a:ext cx="1947672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6" y="4160520"/>
            <a:ext cx="1947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Segoe UI"/>
              </a:rPr>
              <a:t>Teknologi inti dan cara komponen disusun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920240"/>
            <a:ext cx="2459736" cy="402336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92024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286000"/>
            <a:ext cx="2002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BBF24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80"/>
            <a:ext cx="1947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Routing, API &amp;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977639"/>
            <a:ext cx="1947672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160520"/>
            <a:ext cx="1947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Segoe UI"/>
              </a:rPr>
              <a:t>Struktur halaman, backend, dan model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88551" y="1920240"/>
            <a:ext cx="2459736" cy="402336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88551" y="192024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3" y="2286000"/>
            <a:ext cx="2002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2DD4B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3" y="3154680"/>
            <a:ext cx="1947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Admin, Video &amp;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44583" y="3977639"/>
            <a:ext cx="1947672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3" y="4160520"/>
            <a:ext cx="1947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Segoe UI"/>
              </a:rPr>
              <a:t>Panel admin, streaming video, rilis ke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GAMBARAN 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Apa itu DramaApp?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DDDFE6"/>
                </a:solidFill>
                <a:latin typeface="Segoe UI"/>
              </a:rPr>
              <a:t>Aplikasi web untuk </a:t>
            </a:r>
            <a:r>
              <a:rPr sz="1600" b="1" i="0">
                <a:solidFill>
                  <a:srgbClr val="F43F5E"/>
                </a:solidFill>
                <a:latin typeface="Segoe UI"/>
              </a:rPr>
              <a:t>streaming drama China pendek</a:t>
            </a:r>
            <a:r>
              <a:rPr sz="1600" b="0" i="0">
                <a:solidFill>
                  <a:srgbClr val="DDDFE6"/>
                </a:solidFill>
                <a:latin typeface="Segoe UI"/>
              </a:rPr>
              <a:t> secara gratis — dirancang </a:t>
            </a:r>
            <a:r>
              <a:rPr sz="1600" b="1" i="0">
                <a:solidFill>
                  <a:srgbClr val="FBBF24"/>
                </a:solidFill>
                <a:latin typeface="Segoe UI"/>
              </a:rPr>
              <a:t>mobile-first</a:t>
            </a:r>
            <a:r>
              <a:rPr sz="1600" b="0" i="0">
                <a:solidFill>
                  <a:srgbClr val="DDDFE6"/>
                </a:solidFill>
                <a:latin typeface="Segoe UI"/>
              </a:rPr>
              <a:t> agar nyaman ditonton langsung dari HP maupun browser desktop.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081527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01752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Tren short drama  —  </a:t>
            </a:r>
            <a:r>
              <a:rPr sz="1350" b="0" i="0">
                <a:solidFill>
                  <a:srgbClr val="9CA3AF"/>
                </a:solidFill>
                <a:latin typeface="Segoe UI"/>
              </a:rPr>
              <a:t>Drama China format pendek sedang populer — butuh platform yang ringan &amp; cepat.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3849624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785615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Akses gratis &amp; mudah  —  </a:t>
            </a:r>
            <a:r>
              <a:rPr sz="1350" b="0" i="0">
                <a:solidFill>
                  <a:srgbClr val="9CA3AF"/>
                </a:solidFill>
                <a:latin typeface="Segoe UI"/>
              </a:rPr>
              <a:t>Tidak perlu instal aplikasi — cukup buka di browser HP atau PC.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4617720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553712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Pengalaman terkurasi  —  </a:t>
            </a:r>
            <a:r>
              <a:rPr sz="1350" b="0" i="0">
                <a:solidFill>
                  <a:srgbClr val="9CA3AF"/>
                </a:solidFill>
                <a:latin typeface="Segoe UI"/>
              </a:rPr>
              <a:t>Katalog rapi per kategori, halaman detail, dan feed Shorts vertikal.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538581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5321807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Bisa dikelola sendiri  —  </a:t>
            </a:r>
            <a:r>
              <a:rPr sz="1350" b="0" i="0">
                <a:solidFill>
                  <a:srgbClr val="9CA3AF"/>
                </a:solidFill>
                <a:latin typeface="Segoe UI"/>
              </a:rPr>
              <a:t>Panel admin internal untuk menambah judul, episode, dan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01168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A855F7"/>
                </a:solidFill>
                <a:latin typeface="Segoe UI"/>
              </a:rPr>
              <a:t>DRAMAKU — DRAMA CHINA GRATIS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395728"/>
            <a:ext cx="288036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56032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43F5E"/>
                </a:solidFill>
                <a:latin typeface="Segoe UI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700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judul drama dalam katalog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40156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BBF24"/>
                </a:solidFill>
                <a:latin typeface="Segoe U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511296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kategori genre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42816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A855F7"/>
                </a:solidFill>
                <a:latin typeface="Segoe UI"/>
              </a:rP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352544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poster siap tampil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0840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DD4BF"/>
                </a:solidFill>
                <a:latin typeface="Segoe U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193792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halaman / rute aplikasi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GAMBARAN 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Fitur Utama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39696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35915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Katalog &amp;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743200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Jelajahi semua drama, filter per kategori, cari judul.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2139696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5915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Streaming per Episode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43200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Pemutar video khusus tiap episode dengan navigasi prev/next.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3" y="1828800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2139696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35915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Feed Shorts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743200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Tampilan potongan drama bergaya feed vertikal.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13048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412394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3434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Akun &amp; 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7274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Login / daftar, peran admin &amp; viewer, avatar berwarna.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813048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09160" y="412394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43434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Interaksi Sosial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7274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Suka (like), komentar, dan simpan ke My List.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64423" y="3813048"/>
            <a:ext cx="33741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57031" y="412394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43434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Panel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727448"/>
            <a:ext cx="2807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Kelola judul, episode, poster, dan berkas video.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FONDASI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459736" cy="416052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2880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43F5E"/>
                </a:solidFill>
                <a:latin typeface="Segoe UI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" y="2505456"/>
            <a:ext cx="1984248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69748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Next.js 16.2.4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2971800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Framework React, App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373075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React 19.2.4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0050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Library UI komponen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4764024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TypeScript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5038344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Bahasa dengan tipe statis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75304" y="1828800"/>
            <a:ext cx="2459736" cy="416052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5304" y="182880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3048" y="2121408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STYLING &amp;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3048" y="2505456"/>
            <a:ext cx="1984248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69748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Tailwind CSS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2971800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Utility-first styling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373075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next/font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40050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Geist &amp; Playfair Display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4764024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Desain mobile-first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5038344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Top &amp; Bottom navigation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1828800"/>
            <a:ext cx="2459736" cy="416052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81928" y="182880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121408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BUILD &amp; RUNTIME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9672" y="2505456"/>
            <a:ext cx="1984248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269748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Turbopack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971800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Bundler dev super cepat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73075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Node.js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0050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Runtime server-side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764024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Route Handlers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5038344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API bawaan Next.js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8551" y="1828800"/>
            <a:ext cx="2459736" cy="416052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88551" y="1828800"/>
            <a:ext cx="2459736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5" y="2121408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26295" y="2505456"/>
            <a:ext cx="1984248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26295" y="269748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Vercel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6295" y="2971800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Hosting &amp; deploy otomatis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5" y="373075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5" y="40050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Repositori publik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6295" y="4764024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Cloudflare R2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6295" y="5038344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Penyimpanan video (rencana)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FONDASI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Arsitektur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DDDFE6"/>
                </a:solidFill>
                <a:latin typeface="Segoe UI"/>
              </a:rPr>
              <a:t>Aplikasi penuh (full-stack) dalam satu codebase Next.js — lapisan tampilan dan backend hidup berdampingan.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724912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974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Server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5806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Halaman dirender di server secara default — cepat &amp; ringan di sisi klien.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438144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1071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Client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85032"/>
            <a:ext cx="5806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Bagian interaktif ("use client") seperti pemutar video, tombol like, komentar.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4151376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2394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Route Handlers (API)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398264"/>
            <a:ext cx="5806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Endpoint backend di app/api/* — menyajikan &amp; menyimpan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" y="4864608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83717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Penyimpanan berbasis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111496"/>
            <a:ext cx="5806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Data disimpan sebagai berkas JSON — tanpa database, dibaca/tulis lewat Node 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5577840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55040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State di klien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824728"/>
            <a:ext cx="5806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Status login, like, dan My List disimpan di localStorage browser.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373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ALUR LAPISAN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148840"/>
            <a:ext cx="3840480" cy="841248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79" y="2148840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226771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43F5E"/>
                </a:solidFill>
                <a:latin typeface="Segoe UI"/>
              </a:rPr>
              <a:t>KLIEN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5603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DDDFE6"/>
                </a:solidFill>
                <a:latin typeface="Segoe UI"/>
              </a:rPr>
              <a:t>Browser · localStorage · Client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606474"/>
                </a:solidFill>
                <a:latin typeface="Segoe UI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172968"/>
            <a:ext cx="3840480" cy="841248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79" y="317296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A855F7"/>
                </a:solidFill>
                <a:latin typeface="Segoe UI"/>
              </a:rPr>
              <a:t>RENDERING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35844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DDDFE6"/>
                </a:solidFill>
                <a:latin typeface="Segoe UI"/>
              </a:rPr>
              <a:t>React Server Components (App Router)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23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606474"/>
                </a:solidFill>
                <a:latin typeface="Segoe UI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4197096"/>
            <a:ext cx="3840480" cy="841248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4197096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431596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460857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DDDFE6"/>
                </a:solidFill>
                <a:latin typeface="Segoe UI"/>
              </a:rPr>
              <a:t>Route Handlers  —  /api/*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0474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606474"/>
                </a:solidFill>
                <a:latin typeface="Segoe UI"/>
              </a:rPr>
              <a:t>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5221224"/>
            <a:ext cx="3840480" cy="841248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5221224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0688" y="5340096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56327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DDDFE6"/>
                </a:solidFill>
                <a:latin typeface="Segoe UI"/>
              </a:rPr>
              <a:t>Berkas JSON  +  Video CDN (R2)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ROUTING, API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Struktur Halaman &amp;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11 rute di App Router — penamaan folder = penamaan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Landing page — pintu masuk aplikasi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07792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907792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992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735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Masuk ke akun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66744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666744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758183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/daftar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325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Registrasi akun baru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25696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425696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51713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/beranda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914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Beranda — daftar drama utama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184648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5184648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7608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/discover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5504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Jelajah &amp; filter per kategori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943600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5943600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60350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/shorts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63093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Feed potongan drama vertikal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2148840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45352" y="2148840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22402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/drama/[id]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25146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Halaman detail tiap drama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2907792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45352" y="2907792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9992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/watch/[id]/[ep]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2735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Pemutar video per episode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666744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45352" y="3666744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3758183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/my-list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40325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Daftar drama yang disimpan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5352" y="4425696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45352" y="4425696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451713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47914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Profil &amp; pengaturan pengguna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45352" y="5184648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45352" y="5184648"/>
            <a:ext cx="91440" cy="6583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527608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/admin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9672" y="55504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Panel pengelolaan konten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59436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606474"/>
                </a:solidFill>
                <a:latin typeface="Segoe UI"/>
              </a:rPr>
              <a:t>[id] &amp; [ep] = segmen dinamis — satu file melayani banyak URL.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ROUTING, API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API &amp; Lapisan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Route Handlers di app/api/* — sebagian publik, sebagian khusus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074920" cy="38404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507492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API PUBLIK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743200"/>
            <a:ext cx="45262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80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GET /api/dramas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363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Ambil seluruh daftar drama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/api/comments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679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Baca &amp; kirim komentar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434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/api/likes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994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Catat suka pada drama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749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/api/admins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30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Daftar email admin terdaftar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148840"/>
            <a:ext cx="5074920" cy="384048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2148840"/>
            <a:ext cx="5074920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3F5E"/>
                </a:solidFill>
                <a:latin typeface="Segoe UI"/>
              </a:rPr>
              <a:t>API ADMIN  (terproteksi)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9672" y="2743200"/>
            <a:ext cx="45262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880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/api/admin/drama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1363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Tambah, ubah, hapus drama (CRUD)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6118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/api/admin/scan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8679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Pindai berkas video tiap drama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3434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/api/admin/upload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5994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Unggah poster &amp; 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50749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/api/admin/hardlink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5330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Tautkan berkas video ke aplikasi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55321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Proteksi: header </a:t>
            </a:r>
            <a:r>
              <a:rPr sz="1000" b="1" i="0">
                <a:solidFill>
                  <a:srgbClr val="FBBF24"/>
                </a:solidFill>
                <a:latin typeface="Consolas"/>
              </a:rPr>
              <a:t>x-admin-email</a:t>
            </a:r>
            <a:r>
              <a:rPr sz="1000" b="0" i="0">
                <a:solidFill>
                  <a:srgbClr val="9CA3AF"/>
                </a:solidFill>
                <a:latin typeface="Segoe UI"/>
              </a:rPr>
              <a:t> divalidasi vs admins.json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ROUTING, API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Model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DDDFE6"/>
                </a:solidFill>
                <a:latin typeface="Segoe UI"/>
              </a:rPr>
              <a:t>Tanpa database — seluruh data tersimpan sebagai berkas </a:t>
            </a:r>
            <a:r>
              <a:rPr sz="1300" b="1" i="0">
                <a:solidFill>
                  <a:srgbClr val="FBBF24"/>
                </a:solidFill>
                <a:latin typeface="Segoe UI"/>
              </a:rPr>
              <a:t>JSON</a:t>
            </a:r>
            <a:r>
              <a:rPr sz="1300" b="0" i="0">
                <a:solidFill>
                  <a:srgbClr val="DDDFE6"/>
                </a:solidFill>
                <a:latin typeface="Segoe UI"/>
              </a:rPr>
              <a:t> di folder </a:t>
            </a:r>
            <a:r>
              <a:rPr sz="1300" b="1" i="0">
                <a:solidFill>
                  <a:srgbClr val="FBBF24"/>
                </a:solidFill>
                <a:latin typeface="Consolas"/>
              </a:rPr>
              <a:t>data/</a:t>
            </a:r>
            <a:r>
              <a:rPr sz="1300" b="0" i="0">
                <a:solidFill>
                  <a:srgbClr val="DDDFE6"/>
                </a:solidFill>
                <a:latin typeface="Segoe U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905256" y="2670048"/>
            <a:ext cx="137160" cy="1371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dramas.json</a:t>
            </a:r>
            <a:r>
              <a:rPr sz="1100" b="0" i="0">
                <a:solidFill>
                  <a:srgbClr val="9CA3AF"/>
                </a:solidFill>
                <a:latin typeface="Segoe UI"/>
              </a:rPr>
              <a:t>   33 drama — judul, kategori, episode, sinopsis</a:t>
            </a:r>
          </a:p>
        </p:txBody>
      </p:sp>
      <p:sp>
        <p:nvSpPr>
          <p:cNvPr id="11" name="Oval 10"/>
          <p:cNvSpPr/>
          <p:nvPr/>
        </p:nvSpPr>
        <p:spPr>
          <a:xfrm>
            <a:off x="905256" y="3236976"/>
            <a:ext cx="137160" cy="1371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72968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comments.json</a:t>
            </a:r>
            <a:r>
              <a:rPr sz="1100" b="0" i="0">
                <a:solidFill>
                  <a:srgbClr val="9CA3AF"/>
                </a:solidFill>
                <a:latin typeface="Segoe UI"/>
              </a:rPr>
              <a:t>   Komentar pengguna per drama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" y="3803904"/>
            <a:ext cx="137160" cy="1371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39896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interactions.json</a:t>
            </a:r>
            <a:r>
              <a:rPr sz="1100" b="0" i="0">
                <a:solidFill>
                  <a:srgbClr val="9CA3AF"/>
                </a:solidFill>
                <a:latin typeface="Segoe UI"/>
              </a:rPr>
              <a:t>   Catatan suka / interaksi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4370832"/>
            <a:ext cx="137160" cy="1371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06824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FBBF24"/>
                </a:solidFill>
                <a:latin typeface="Consolas"/>
              </a:rPr>
              <a:t>admins.json</a:t>
            </a:r>
            <a:r>
              <a:rPr sz="1100" b="0" i="0">
                <a:solidFill>
                  <a:srgbClr val="9CA3AF"/>
                </a:solidFill>
                <a:latin typeface="Segoe UI"/>
              </a:rPr>
              <a:t>   Daftar email yang berperan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7 KATEGORI GENRE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49240"/>
            <a:ext cx="800100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8001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Romance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7652" y="534924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7652" y="5349240"/>
            <a:ext cx="7223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Tycoon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8900" y="5349240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900" y="5349240"/>
            <a:ext cx="6446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Harem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2424" y="5349240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5349240"/>
            <a:ext cx="11109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Time Travel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2292" y="534924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292" y="5349240"/>
            <a:ext cx="7223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63540" y="534924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3540" y="5349240"/>
            <a:ext cx="7223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Comedy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4788" y="5349240"/>
            <a:ext cx="800100" cy="329184"/>
          </a:xfrm>
          <a:prstGeom prst="roundRect">
            <a:avLst>
              <a:gd name="adj" fmla="val 50000"/>
            </a:avLst>
          </a:prstGeom>
          <a:solidFill>
            <a:srgbClr val="181826"/>
          </a:solidFill>
          <a:ln w="9525">
            <a:solidFill>
              <a:srgbClr val="2C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4788" y="5349240"/>
            <a:ext cx="8001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DDDFE6"/>
                </a:solidFill>
                <a:latin typeface="Segoe UI"/>
              </a:rPr>
              <a:t>Fantasy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783080"/>
            <a:ext cx="4023360" cy="4297680"/>
          </a:xfrm>
          <a:prstGeom prst="roundRect">
            <a:avLst>
              <a:gd name="adj" fmla="val 5500"/>
            </a:avLst>
          </a:prstGeom>
          <a:solidFill>
            <a:srgbClr val="10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196596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606474"/>
                </a:solidFill>
                <a:latin typeface="Consolas"/>
              </a:rPr>
              <a:t>lib/types.ts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286000"/>
            <a:ext cx="3474720" cy="20116"/>
          </a:xfrm>
          <a:prstGeom prst="rect">
            <a:avLst/>
          </a:prstGeom>
          <a:solidFill>
            <a:srgbClr val="26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2468880"/>
            <a:ext cx="3566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A855F7"/>
                </a:solidFill>
                <a:latin typeface="Consolas"/>
              </a:rPr>
              <a:t>type </a:t>
            </a:r>
            <a:r>
              <a:rPr sz="1150" b="1" i="0">
                <a:solidFill>
                  <a:srgbClr val="2DD4BF"/>
                </a:solidFill>
                <a:latin typeface="Consolas"/>
              </a:rPr>
              <a:t>Drama</a:t>
            </a:r>
            <a:r>
              <a:rPr sz="1150" b="0" i="0">
                <a:solidFill>
                  <a:srgbClr val="DDDFE6"/>
                </a:solidFill>
                <a:latin typeface="Consolas"/>
              </a:rPr>
              <a:t> = {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Consolas"/>
              </a:rPr>
              <a:t>  id, title, category,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Consolas"/>
              </a:rPr>
              <a:t>  episodes, views,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Consolas"/>
              </a:rPr>
              <a:t>  synopsis, gradient,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FBBF24"/>
                </a:solidFill>
                <a:latin typeface="Consolas"/>
              </a:rPr>
              <a:t>  posterImage?,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FBBF24"/>
                </a:solidFill>
                <a:latin typeface="Consolas"/>
              </a:rPr>
              <a:t>  heroImage?,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FBBF24"/>
                </a:solidFill>
                <a:latin typeface="Consolas"/>
              </a:rPr>
              <a:t>  exclusive?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Consolas"/>
              </a:rPr>
              <a:t>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709160"/>
            <a:ext cx="3474720" cy="20116"/>
          </a:xfrm>
          <a:prstGeom prst="rect">
            <a:avLst/>
          </a:prstGeom>
          <a:solidFill>
            <a:srgbClr val="26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864608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 i="0">
                <a:solidFill>
                  <a:srgbClr val="606474"/>
                </a:solidFill>
                <a:latin typeface="Consolas"/>
              </a:rPr>
              <a:t>? = field opsional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ID dibuat otomatis dari judul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(slugify) saat drama ditambah.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ADMIN, VIDEO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Panel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DDFE6"/>
                </a:solidFill>
                <a:latin typeface="Segoe UI"/>
              </a:rPr>
              <a:t>Halaman </a:t>
            </a:r>
            <a:r>
              <a:rPr sz="1300" b="1" i="0">
                <a:solidFill>
                  <a:srgbClr val="FBBF24"/>
                </a:solidFill>
                <a:latin typeface="Consolas"/>
              </a:rPr>
              <a:t>/admin</a:t>
            </a:r>
            <a:r>
              <a:rPr sz="1300" b="0" i="0">
                <a:solidFill>
                  <a:srgbClr val="DDDFE6"/>
                </a:solidFill>
                <a:latin typeface="Segoe UI"/>
              </a:rPr>
              <a:t> — pengelolaan konten tanpa perlu menyentuh kode.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2459736" cy="22402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4712" y="26060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852928"/>
            <a:ext cx="20025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Kelola Drama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Tambah, ubah, dan hapus judul drama (operasi CRUD penuh).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2331720"/>
            <a:ext cx="2459736" cy="22402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31336" y="26060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2852928"/>
            <a:ext cx="20025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Pindai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2461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Deteksi berkas video yang tersedia untuk tiap drama.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331720"/>
            <a:ext cx="2459736" cy="22402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26060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52928"/>
            <a:ext cx="20025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Unggah 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Upload poster dan gambar pendukung lewat antarmuka.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1" y="2331720"/>
            <a:ext cx="2459736" cy="22402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44583" y="26060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3" y="2852928"/>
            <a:ext cx="20025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Tautkan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3" y="32461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Hardlink berkas video besar agar siap diputar aplikasi.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00600"/>
            <a:ext cx="10469880" cy="114300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800600"/>
            <a:ext cx="118872" cy="11430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9834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3F5E"/>
                </a:solidFill>
                <a:latin typeface="Segoe UI"/>
              </a:rPr>
              <a:t>KEAMANAN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85232"/>
            <a:ext cx="9966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DDDFE6"/>
                </a:solidFill>
                <a:latin typeface="Segoe UI"/>
              </a:rPr>
              <a:t>Setiap permintaan ke API admin memuat header </a:t>
            </a:r>
            <a:r>
              <a:rPr sz="1200" b="1" i="0">
                <a:solidFill>
                  <a:srgbClr val="FBBF24"/>
                </a:solidFill>
                <a:latin typeface="Consolas"/>
              </a:rPr>
              <a:t>x-admin-email</a:t>
            </a:r>
            <a:r>
              <a:rPr sz="1200" b="0" i="0">
                <a:solidFill>
                  <a:srgbClr val="DDDFE6"/>
                </a:solidFill>
                <a:latin typeface="Segoe UI"/>
              </a:rPr>
              <a:t> yang dicocokkan dengan daftar di </a:t>
            </a:r>
            <a:r>
              <a:rPr sz="1200" b="1" i="0">
                <a:solidFill>
                  <a:srgbClr val="FBBF24"/>
                </a:solidFill>
                <a:latin typeface="Consolas"/>
              </a:rPr>
              <a:t>admins.json</a:t>
            </a:r>
            <a:r>
              <a:rPr sz="1200" b="0" i="0">
                <a:solidFill>
                  <a:srgbClr val="DDDFE6"/>
                </a:solidFill>
                <a:latin typeface="Segoe UI"/>
              </a:rPr>
              <a:t> — bila tidak cocok, ditolak (401 Unauthorized).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ADMIN, VIDEO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Video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855F7"/>
                </a:solidFill>
                <a:latin typeface="Segoe UI"/>
              </a:rPr>
              <a:t>CARA KERJA PEMUTAR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221991"/>
            <a:ext cx="118872" cy="47548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1945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Komponen VideoPlayer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468879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Memakai elemen HTML5 &lt;video&gt; bawaan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063239"/>
            <a:ext cx="118872" cy="47548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03580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Sumber video dinamis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310127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URL dirakit: {BASE}/{id-drama}/{episode}.mp4.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3904488"/>
            <a:ext cx="118872" cy="47548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877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Fallback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51376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Bila video gagal dimuat, beralih ke /sample.mp4.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" y="4745736"/>
            <a:ext cx="118872" cy="47548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71830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Navigasi episode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992624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Tombol episode sebelumnya &amp; berikutnya di halaman watch.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94560"/>
            <a:ext cx="3931920" cy="1371600"/>
          </a:xfrm>
          <a:prstGeom prst="roundRect">
            <a:avLst>
              <a:gd name="adj" fmla="val 5500"/>
            </a:avLst>
          </a:prstGeom>
          <a:solidFill>
            <a:srgbClr val="10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3591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606474"/>
                </a:solidFill>
                <a:latin typeface="Consolas"/>
              </a:rPr>
              <a:t>ENV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151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Consolas"/>
              </a:rPr>
              <a:t>NEXT_PUBLIC_VIDEO_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1635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Consolas"/>
              </a:rPr>
              <a:t>BASE_URL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108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Menunjuk ke lokasi CDN video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703320"/>
            <a:ext cx="3931920" cy="224028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06640" y="3703320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395020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PENYIMPANAN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42976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DDDFE6"/>
                </a:solidFill>
                <a:latin typeface="Segoe UI"/>
              </a:rPr>
              <a:t>Berkas video TIDAK disimpan di repo 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459028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DDDFE6"/>
                </a:solidFill>
                <a:latin typeface="Segoe UI"/>
              </a:rPr>
              <a:t>(batas GitHub 100 MB/berkas).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5175504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DDDFE6"/>
                </a:solidFill>
                <a:latin typeface="Segoe UI"/>
              </a:rPr>
              <a:t>Rencana: Cloudflare R2 sebagai CDN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546811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DDDFE6"/>
                </a:solidFill>
                <a:latin typeface="Segoe UI"/>
              </a:rPr>
              <a:t>— 10 GB gratis, sekali unggah.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ADMIN, VIDEO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Arsitektur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DDDFE6"/>
                </a:solidFill>
                <a:latin typeface="Segoe UI"/>
              </a:rPr>
              <a:t>Aplikasi &amp; video DIPISAH demi hemat biaya — Vercel mengurus tampilan, PC backup menyalurkan file video besar lewat tunnel.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3246120" cy="150876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697480"/>
            <a:ext cx="3246120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9008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3F5E"/>
                </a:solidFill>
                <a:latin typeface="Segoe UI"/>
              </a:rPr>
              <a:t>PENGUNJUNG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Buka app di browser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HP /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2697480"/>
            <a:ext cx="576072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06474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697480"/>
            <a:ext cx="3246120" cy="150876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2697480"/>
            <a:ext cx="3246120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99008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A855F7"/>
                </a:solidFill>
                <a:latin typeface="Segoe UI"/>
              </a:rPr>
              <a:t>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410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Aplikasi: halaman, katalog,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API — gratis, selalu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697480"/>
            <a:ext cx="576072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06474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59" y="2697480"/>
            <a:ext cx="3246120" cy="150876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59" y="2697480"/>
            <a:ext cx="324612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99008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PC BACKUP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1071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Simpan file video asli +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DDDFE6"/>
                </a:solidFill>
                <a:latin typeface="Segoe UI"/>
              </a:rPr>
              <a:t>salurkan via Caddy &amp; tunnel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26280"/>
            <a:ext cx="5120640" cy="150876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52628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754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KENAPA DIPISAH?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0749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File video besar — tak muat di GitHub (batas 100 MB) maupun hosting gratis. Solusinya: app ringan di Vercel, video tetap di PC. Semua layanan gratis → biaya Rp 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26280"/>
            <a:ext cx="5120640" cy="150876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452628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54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KOMPONEN DI PC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Consolas"/>
              </a:rPr>
              <a:t>Caddyfile</a:t>
            </a:r>
            <a:r>
              <a:rPr sz="1050" b="0" i="0">
                <a:solidFill>
                  <a:srgbClr val="9CA3AF"/>
                </a:solidFill>
                <a:latin typeface="Segoe UI"/>
              </a:rPr>
              <a:t>  —  web server penyalur 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85816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Consolas"/>
              </a:rPr>
              <a:t>hardlink-agent.js</a:t>
            </a:r>
            <a:r>
              <a:rPr sz="1050" b="0" i="0">
                <a:solidFill>
                  <a:srgbClr val="9CA3AF"/>
                </a:solidFill>
                <a:latin typeface="Segoe UI"/>
              </a:rPr>
              <a:t>  —  siapkan file video otomatis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6967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Consolas"/>
              </a:rPr>
              <a:t>start-dramaapp.ps1</a:t>
            </a:r>
            <a:r>
              <a:rPr sz="1050" b="0" i="0">
                <a:solidFill>
                  <a:srgbClr val="9CA3AF"/>
                </a:solidFill>
                <a:latin typeface="Segoe UI"/>
              </a:rPr>
              <a:t>  —  1 perintah jalankan semua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ADMIN, VIDEO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Deployment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Dari kode lokal sampai online — alur rilis yang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324612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2432304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4323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089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Kode di repositori publik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masradenbagus89-ui/dramaapp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94560"/>
            <a:ext cx="59436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06474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194560"/>
            <a:ext cx="324612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73752" y="2432304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24323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50545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1089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Auto-deteksi Next.js,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build &amp; deploy otomatis dari 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194560"/>
            <a:ext cx="59436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06474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59" y="2194560"/>
            <a:ext cx="324612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2791" y="2432304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1" y="24323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50545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1089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Aplikasi live di URL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.vercel.app — siap diakses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251960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25196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480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OTOMASI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77316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Skrip </a:t>
            </a:r>
            <a:r>
              <a:rPr sz="1150" b="1" i="0">
                <a:solidFill>
                  <a:srgbClr val="FBBF24"/>
                </a:solidFill>
                <a:latin typeface="Consolas"/>
              </a:rPr>
              <a:t>start-dramaapp.ps1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Satu perintah menjalankan seluruh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lingkungan dev + sinkron otomatis ke Vercel.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51960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425196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KONFIGURASI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7316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1" i="0">
                <a:solidFill>
                  <a:srgbClr val="DDDFE6"/>
                </a:solidFill>
                <a:latin typeface="Segoe UI"/>
              </a:rPr>
              <a:t>5 environment variable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diatur di dashboard Vercel — termasuk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Segoe UI"/>
              </a:rPr>
              <a:t>URL basis video &amp; pengaturan aplikasi.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Perjalanan Pembuatan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8 tahap dari nol sampai online — 6 sudah selesai, 2 berikutnya.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44144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414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4086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Setup Project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5176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Ambil code dari GitHub, jalan di laptop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2" y="2194560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28232" y="2194560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02552" y="244144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4414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34086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Online di Vercel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65176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App bisa dibuka publik: dramaapp.vercel.app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255263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255263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3502151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0215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40156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Video Bisa Diputar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712463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Video dari PC backup disalurkan via tunnel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8232" y="3255263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28232" y="3255263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02552" y="3502151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350215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40156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Admin Form Otomatis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3712463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Tambah drama tanpa edit file manual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315968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4315968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3000" y="4562856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562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4622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Auto-Hardlink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7731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Tambah drama baru cukup ~3 klik / 2 menit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8232" y="4315968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28232" y="4315968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02552" y="4562856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02552" y="4562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44622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Script Otomatis</a:t>
            </a:r>
            <a:r>
              <a:rPr sz="850" b="1" i="0">
                <a:solidFill>
                  <a:srgbClr val="2DD4BF"/>
                </a:solidFill>
                <a:latin typeface="Segoe UI"/>
              </a:rPr>
              <a:t>   SELESAI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1192" y="47731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1 command start semua + auto-update Vercel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376671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8680" y="5376671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3000" y="562355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62355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5522975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Named Tunnel</a:t>
            </a:r>
            <a:r>
              <a:rPr sz="850" b="1" i="0">
                <a:solidFill>
                  <a:srgbClr val="FBBF24"/>
                </a:solidFill>
                <a:latin typeface="Segoe UI"/>
              </a:rPr>
              <a:t>   BERIKUTNYA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5833871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Berikutnya: URL video stabil selamanya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5376671"/>
            <a:ext cx="5285232" cy="877824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28232" y="5376671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02552" y="562355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2552" y="562355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1192" y="5522975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Perbaikan Akhir</a:t>
            </a:r>
            <a:r>
              <a:rPr sz="850" b="1" i="0">
                <a:solidFill>
                  <a:srgbClr val="FBBF24"/>
                </a:solidFill>
                <a:latin typeface="Segoe UI"/>
              </a:rPr>
              <a:t>   RENCANA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51192" y="5833871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9CA3AF"/>
                </a:solidFill>
                <a:latin typeface="Segoe UI"/>
              </a:rPr>
              <a:t>Rencana: fix bug judul panjang + keamanan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Tantangan Teknis &amp;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0469880" cy="13258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75104"/>
            <a:ext cx="3657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Jaringan server terkunci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993392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842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TANTANGAN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2199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9CA3AF"/>
                </a:solidFill>
                <a:latin typeface="Segoe UI"/>
              </a:rPr>
              <a:t>Firewall memblokir port masuk; lalu lintas keluar dipaksa lewat proxy yang memblokir layanan tunnel (ngrok, cloudflared, localtunnel — semua gagal).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993392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842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DD4BF"/>
                </a:solidFill>
                <a:latin typeface="Segoe UI"/>
              </a:rPr>
              <a:t>SOLUSI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2199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DDDFE6"/>
                </a:solidFill>
                <a:latin typeface="Segoe UI"/>
              </a:rPr>
              <a:t>Deploy ke cloud (Vercel) — aplikasi diakses lewat URL publik tanpa bergantung pada jaringan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64408"/>
            <a:ext cx="10469880" cy="13258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410712"/>
            <a:ext cx="3657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Berkas video terlalu besar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429000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41985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TANTANGAN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576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9CA3AF"/>
                </a:solidFill>
                <a:latin typeface="Segoe UI"/>
              </a:rPr>
              <a:t>Video melebihi batas 100 MB GitHub sehingga tidak bisa ikut masuk repo.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429000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4198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DD4BF"/>
                </a:solidFill>
                <a:latin typeface="Segoe UI"/>
              </a:rPr>
              <a:t>SOLUSI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6576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DDDFE6"/>
                </a:solidFill>
                <a:latin typeface="Segoe UI"/>
              </a:rPr>
              <a:t>Pisahkan video ke penyimpanan eksternal (Cloudflare R2 / CDN); path diatur lewat environment variable.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700016"/>
            <a:ext cx="10469880" cy="13258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846320"/>
            <a:ext cx="3657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Tanpa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864608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85546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TANTANGAN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0932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9CA3AF"/>
                </a:solidFill>
                <a:latin typeface="Segoe UI"/>
              </a:rPr>
              <a:t>Belum ada server basis data untuk menyimpan drama, komentar, dan interaksi.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864608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8554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DD4BF"/>
                </a:solidFill>
                <a:latin typeface="Segoe UI"/>
              </a:rPr>
              <a:t>SOLUSI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9320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9" b="0" i="0">
                <a:solidFill>
                  <a:srgbClr val="DDDFE6"/>
                </a:solidFill>
                <a:latin typeface="Segoe UI"/>
              </a:rPr>
              <a:t>Gunakan penyimpanan berkas JSON — sederhana, cukup untuk skala awal, mudah ditingkatkan ke database nanti.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LANGKAH BERIKUTNYA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Roadmap 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43F5E"/>
                </a:solidFill>
                <a:latin typeface="Segoe UI"/>
              </a:rPr>
              <a:t>JANGKA PENDEK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Unggah video ke Cloudflare R2 &amp; perbarui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1752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01752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Uji seluruh halaman setelah 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4048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4048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Identifikasi &amp; perbaiki bug satu per satu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JANGKA PANJANG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194560"/>
            <a:ext cx="5074920" cy="713232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19456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4617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Tingkatkan dari JSON store ke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074920" cy="713232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01752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017520"/>
            <a:ext cx="4617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Autentikasi lebih kuat (kini berbasis localStorage)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840480"/>
            <a:ext cx="5074920" cy="713232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384048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840480"/>
            <a:ext cx="4617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Fitur pencarian &amp; rekomendasi konten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63440"/>
            <a:ext cx="5074920" cy="713232"/>
          </a:xfrm>
          <a:prstGeom prst="roundRect">
            <a:avLst>
              <a:gd name="adj" fmla="val 5500"/>
            </a:avLst>
          </a:prstGeom>
          <a:solidFill>
            <a:srgbClr val="21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4663440"/>
            <a:ext cx="91440" cy="71323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663440"/>
            <a:ext cx="4617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DDDFE6"/>
                </a:solidFill>
                <a:latin typeface="Segoe UI"/>
              </a:rPr>
              <a:t>Optimasi performa &amp; infinite scroll Shorts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074920"/>
            <a:ext cx="10469880" cy="914400"/>
          </a:xfrm>
          <a:prstGeom prst="roundRect">
            <a:avLst>
              <a:gd name="adj" fmla="val 5500"/>
            </a:avLst>
          </a:prstGeom>
          <a:solidFill>
            <a:srgbClr val="10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07492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9CA3AF"/>
                </a:solidFill>
                <a:latin typeface="Segoe UI"/>
              </a:rPr>
              <a:t>Status saat ini:  </a:t>
            </a:r>
            <a:r>
              <a:rPr sz="1200" b="0" i="0">
                <a:solidFill>
                  <a:srgbClr val="DDDFE6"/>
                </a:solidFill>
                <a:latin typeface="Segoe UI"/>
              </a:rPr>
              <a:t>aplikasi fungsional &amp; ter-deploy — fokus berikutnya adalah memutar video dari CDN dan stabilisasi.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0350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Segoe UI"/>
              </a:rPr>
              <a:t>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Antisipasi Tanya-Jawab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03504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606474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412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06474"/>
                </a:solidFill>
                <a:latin typeface="Segoe UI"/>
              </a:rPr>
              <a:t>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0116"/>
          </a:xfrm>
          <a:prstGeom prst="rect">
            <a:avLst/>
          </a:prstGeom>
          <a:solidFill>
            <a:srgbClr val="2C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Pertanyaan yang mungkin muncul — siapkan jawaban singkat 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8716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43F5E"/>
                </a:solidFill>
                <a:latin typeface="Segoe UI"/>
              </a:rPr>
              <a:t>T: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Kenapa tidak pakai database beneran?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3239"/>
            <a:ext cx="45902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F43F5E"/>
                </a:solidFill>
                <a:latin typeface="Segoe UI"/>
              </a:rPr>
              <a:t>J:  </a:t>
            </a:r>
            <a:r>
              <a:rPr sz="1150" b="0" i="0">
                <a:solidFill>
                  <a:srgbClr val="9CA3AF"/>
                </a:solidFill>
                <a:latin typeface="Segoe UI"/>
              </a:rPr>
              <a:t>File JSON cukup untuk skala ini, lebih ringan &amp; tanpa biaya. Kalau data besar, tinggal migrasi ke database tanpa ubah tampilan.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8716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T: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Berapa biaya hosting?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39"/>
            <a:ext cx="45902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J:  </a:t>
            </a:r>
            <a:r>
              <a:rPr sz="1150" b="0" i="0">
                <a:solidFill>
                  <a:srgbClr val="9CA3AF"/>
                </a:solidFill>
                <a:latin typeface="Segoe UI"/>
              </a:rPr>
              <a:t>Rp 0 — Vercel free tier untuk aplikasi, PC sendiri untuk video, semua tool open-source.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78808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178808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47141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T: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Apakah aman?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47488"/>
            <a:ext cx="45902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2DD4BF"/>
                </a:solidFill>
                <a:latin typeface="Segoe UI"/>
              </a:rPr>
              <a:t>J:  </a:t>
            </a:r>
            <a:r>
              <a:rPr sz="1150" b="0" i="0">
                <a:solidFill>
                  <a:srgbClr val="9CA3AF"/>
                </a:solidFill>
                <a:latin typeface="Segoe UI"/>
              </a:rPr>
              <a:t>Role admin diverifikasi di server di tiap endpoint (bukan cuma tampilan); video dipisah dari aplikasi.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78808"/>
            <a:ext cx="5120640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4178808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7141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A855F7"/>
                </a:solidFill>
                <a:latin typeface="Segoe UI"/>
              </a:rPr>
              <a:t>T: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Bisa diakses dari HP?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47488"/>
            <a:ext cx="45902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 i="0">
                <a:solidFill>
                  <a:srgbClr val="A855F7"/>
                </a:solidFill>
                <a:latin typeface="Segoe UI"/>
              </a:rPr>
              <a:t>J:  </a:t>
            </a:r>
            <a:r>
              <a:rPr sz="1150" b="0" i="0">
                <a:solidFill>
                  <a:srgbClr val="9CA3AF"/>
                </a:solidFill>
                <a:latin typeface="Segoe UI"/>
              </a:rPr>
              <a:t>Bisa. Desain responsive, ada bottom-nav khusus mobile, jalan di browser HP mana saja.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F43F5E"/>
                </a:solidFill>
                <a:latin typeface="Segoe UI"/>
              </a:rPr>
              <a:t>DramaKu</a:t>
            </a:r>
            <a:r>
              <a:rPr sz="900" b="0" i="0">
                <a:solidFill>
                  <a:srgbClr val="606474"/>
                </a:solidFill>
                <a:latin typeface="Segoe UI"/>
              </a:rPr>
              <a:t>  ·  Gambaran Teknis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06474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solidFill>
            <a:srgbClr val="231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486400" cy="5486400"/>
          </a:xfrm>
          <a:prstGeom prst="ellipse">
            <a:avLst/>
          </a:prstGeom>
          <a:solidFill>
            <a:srgbClr val="33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A855F7"/>
                </a:solidFill>
                <a:latin typeface="Segoe UI"/>
              </a:rPr>
              <a:t>RINGKASAN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80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DramaKu</a:t>
            </a:r>
            <a:r>
              <a:rPr sz="3000" b="0" i="0">
                <a:solidFill>
                  <a:srgbClr val="DDDFE6"/>
                </a:solidFill>
                <a:latin typeface="Segoe UI"/>
              </a:rPr>
              <a:t> — modern, ringan, siap berkembang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4597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06424" y="270662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90779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273552"/>
            <a:ext cx="20025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Next.js 16, React 19 &amp; TypeScript dalam satu codebase full-stack.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2468880"/>
            <a:ext cx="24597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13048" y="270662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90779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273552"/>
            <a:ext cx="20025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Pengalaman menonton dirancang utama untuk layar HP.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468880"/>
            <a:ext cx="24597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70662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90779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Praktis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273552"/>
            <a:ext cx="20025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Data berbasis file &amp; panel admin — cepat dikelola tanpa kode.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1" y="2468880"/>
            <a:ext cx="2459736" cy="1783080"/>
          </a:xfrm>
          <a:prstGeom prst="roundRect">
            <a:avLst>
              <a:gd name="adj" fmla="val 5500"/>
            </a:avLst>
          </a:prstGeom>
          <a:solidFill>
            <a:srgbClr val="18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26295" y="2706624"/>
            <a:ext cx="457200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5" y="2907792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Ter-deploy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5" y="3273552"/>
            <a:ext cx="20025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Online di Vercel dengan alur rilis otomatis dari GitHub.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63440"/>
            <a:ext cx="10469880" cy="1234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1162C"/>
              </a:gs>
              <a:gs pos="100000">
                <a:srgbClr val="18182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8463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349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Siap untuk sesi tanya-jawab &amp; demo aplikasi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560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A855F7"/>
                </a:solidFill>
                <a:latin typeface="Segoe UI"/>
              </a:rPr>
              <a:t>REPOSITORI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212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github.com/masradenbagus89-ui/dramaapp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06474"/>
                </a:solidFill>
                <a:latin typeface="Segoe UI"/>
              </a:rPr>
              <a:t>DramaKu  ·  Gambaran Teknis Project  ·  2 Juni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